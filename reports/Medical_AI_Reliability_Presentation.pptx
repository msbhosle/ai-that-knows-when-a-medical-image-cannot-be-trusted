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972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RESEARCH PORTFOLIO PROJECT 2 | TRUSTWORTHY MEDICAL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That Knows When a Medical Image Cannot Be Trusted</a:t>
            </a:r>
          </a:p>
          <a:p>
            <a:pPr>
              <a:spcBef>
                <a:spcPts val="1400"/>
              </a:spcBef>
              <a:defRPr sz="1800">
                <a:solidFill>
                  <a:srgbClr val="CBD5E1"/>
                </a:solidFill>
              </a:defRPr>
            </a:pPr>
            <a:r>
              <a:t>Selective Prediction, Epistemic Uncertainty Quantification &amp; Out-of-Distribution Screening for Safe Clinical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725912" cy="1463040"/>
          </a:xfrm>
          <a:prstGeom prst="roundRect">
            <a:avLst/>
          </a:prstGeom>
          <a:solidFill>
            <a:srgbClr val="18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0060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Benchmark Modality: Colorectal Histopathology (PathMNIST - 107,180 Scans) vs. Dermatology &amp; Cytology OOD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Core Pillars: Deterministic Image Quality Gate • Monte Carlo Dropout Epistemic Uncertainty • Temperature Calibration • Mahalanobis Manifold OOD</a:t>
            </a:r>
          </a:p>
          <a:p>
            <a:pPr>
              <a:spcBef>
                <a:spcPts val="600"/>
              </a:spcBef>
              <a:defRPr sz="1100">
                <a:solidFill>
                  <a:srgbClr val="0D9488"/>
                </a:solidFill>
              </a:defRPr>
            </a:pPr>
            <a:r>
              <a:t>Status: Fully Verified &amp; Reproducible (100% PyTest Passing • Interactive Clinical Dashboard Built • Formal PDF Report Published)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PROJECT 2: MEDICAL AI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The Motive: The Dangerous Fallacy of 'Closed-World' Medical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6499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1. The Clinical Danger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Forced Prediction: Standard AI forces a softmax output sum(p)=1 on EVERY image, even when blind.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Catastrophic Overconfidence: When models fail on corrupted scans, they routinely assert wrong diagnoses with &gt;95% confidence.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Silent Patient Harm: A false-positive or missed malignancy delivered with high confidence misleads doctors and damages clinical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554480"/>
            <a:ext cx="336499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73736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43"/>
                </a:solidFill>
              </a:defRPr>
            </a:pPr>
            <a:r>
              <a:t>2. Real Hospital Realities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Microscope Focus Drift: Automated slide scanner stages vibrate or drift out-of-focus during routine high-throughput digitizing.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Chemical Staining Shifts: H&amp;E stain batches fade, acid washes vary, and slide preparations introduce coverslip bubbles.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Modality Mismatches: A clinician accidentally routes a skin lesion or blood smear to a colorectal tissue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554480"/>
            <a:ext cx="3364992" cy="47548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73736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3. Our Trustworthy Solution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Meta-Cognitive Awareness: AI knows its own internal limits and declared 'I cannot trust this image'.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Selective Prediction: Automates clear, pristine cases; defers compromised scans to senior human pathologists.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Defense-in-Depth: No single point of failure: 4 orthogonal safety layers intercept flawed inputs before harm occurs.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PROJECT 2: MEDICAL AI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Problem Solving: The 4-Layer Clinical Defense-in-Depth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1072591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1026871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LAYER 1: DETERMINISTIC PHYSICAL QUALITY GATE (IQA)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Evaluates raw spatial optics before neural inference: Laplacian Focus Variance (Var_Lap &lt; 40 triggers blur warning), Signal-to-Noise Ratio (SNR &gt; 10 dB), and pixel dynamic range clipping (&lt; 45%). Stops blurred scans before wasting compute.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725912" cy="107899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52928"/>
            <a:ext cx="1026871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LAYER 2: DEEP LATENT MANIFOLD OOD SCREENING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Measures the geometric Mahalanobis distance M(x) of the image's 256-dimensional feature representation from the in-distribution tissue manifold. Completely isolates foreign modalities (skin, blood) with 98.9%-99.3% AUROC.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50208"/>
            <a:ext cx="1072591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59936"/>
            <a:ext cx="1026871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LAYER 3: BAYESIAN EPISTEMIC UNCERTAINTY QUANTIFICATION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Executes 15 inference-time Monte Carlo Dropout passes to decompose total predictive entropy H(p) into Aleatoric data noise and Epistemic Mutual Information I(y, W|x). Detects when the model is ignorant of a tissue morphology.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57216"/>
            <a:ext cx="10725912" cy="107899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266944"/>
            <a:ext cx="1026871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LAYER 4: VALIDATION-CALIBRATED CONFIDENCE &amp; SELECTIVE TRIAGE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Applies post-hoc Temperature Scaling (T = 1.23) so reported confidence matches true clinical accuracy (ECE: 5.17%). Multi-signal triage policy issues unambiguous decision: 🟢 TRUSTED: ACCEPT or 🔴 UNTRUSTED: DEFER TO PATHOLOGIST.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PROJECT 2: MEDICAL AI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Experimental Results: Locked Test Diagnostics &amp; Temperature Calibration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6217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_calibration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6035040" cy="26014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536192"/>
            <a:ext cx="4325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719072"/>
            <a:ext cx="3867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43"/>
                </a:solidFill>
              </a:defRPr>
            </a:pPr>
            <a:r>
              <a:t>Diagnostic Benchmark Metrics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Locked Test Accuracy: 86.07% (6,180 / 7,180 correct)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Balanced Accuracy: 81.84% (across 9 tissue classes)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Macro-F1 Score: 0.8087 (Precision: 82.04% / Recall: 81.84%)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Peak Validation Acc: 97.26% (Epoch 8 checkpoint)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Pre-Calibration ECE: 6.56% (Systematic overconfidence)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Post-Calibration ECE: 5.17% (T = 1.2251, -21.2% error reduction)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Calibrated Brier Score: 0.2270 (Well-calibrated probabilities)</a:t>
            </a:r>
          </a:p>
          <a:p>
            <a:pPr>
              <a:spcBef>
                <a:spcPts val="1400"/>
              </a:spcBef>
              <a:defRPr sz="1100" i="1">
                <a:solidFill>
                  <a:srgbClr val="0D9488"/>
                </a:solidFill>
              </a:defRPr>
            </a:pPr>
            <a:r>
              <a:t>Key Takeaway: Temperature Scaling (T=1.23) strictly fitted on validation data flattens the confidence histogram without changing classification accuracy, restoring clinical alignment.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PROJECT 2: MEDICAL AI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Selective Prediction: Continuous Clinical Risk Reduction via Abstention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5943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2_risk_coverag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5669280" cy="41490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0" y="1536192"/>
            <a:ext cx="45994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719072"/>
            <a:ext cx="4142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43"/>
                </a:solidFill>
              </a:defRPr>
            </a:pPr>
            <a:r>
              <a:t>Risk-Coverage Optimization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The Full Automation Dilemma: Forcing AI to predict 100% of cases yields a baseline error rate of 13.93% (1,000 mistakes).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Area Under Risk-Coverage (AURC): AURC = 4.80. As the abstention threshold tightens, clinical error rate on accepted cases drops monotonically.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Bounded Clinical Risk: A hospital can configure an allowable clinical risk target (e.g. error &lt;= 3% or &lt;= 5%). The AI automatically computes the maximal coverage satisfying that safety bound.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Optimized Labor Allocation: Routine, unambiguous biopsies are automated rapidly; ambiguous border cases are channeled directly to pathologists.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PROJECT 2: MEDICAL AI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Core Scientific Discovery: 29.2% of Mistakes Are Confidently Silent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10725912" cy="1463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RESEARCH QUESTION: Does Uncertainty Always Warn Us When the AI Makes an Error?</a:t>
            </a:r>
          </a:p>
          <a:p>
            <a:pPr>
              <a:spcBef>
                <a:spcPts val="600"/>
              </a:spcBef>
              <a:defRPr sz="1300" b="1">
                <a:solidFill>
                  <a:srgbClr val="1E293B"/>
                </a:solidFill>
              </a:defRPr>
            </a:pPr>
            <a:r>
              <a:t>EMPIRICAL ANSWER: NO. Out of 1,000 test errors, 292 cases (29.2% of all mistakes) were 'Silent Failures'—the AI was completely wrong, yet output high confidence (&gt;85%) and low entropy (&lt;0.35).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18688"/>
            <a:ext cx="3364992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55848"/>
            <a:ext cx="299923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Where Do They Happen?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Silent failures occur at subtle, ambiguous histological tissue boundaries:</a:t>
            </a:r>
            <a:br/>
            <a:br/>
            <a:r>
              <a:t>• Smooth muscle (MUS) vs. desmoplastic cancer stroma (STR)</a:t>
            </a:r>
            <a:br/>
            <a:r>
              <a:t>• Normal crypts (NORM) vs. low-grade dysplasia (TUM)</a:t>
            </a:r>
            <a:br/>
            <a:r>
              <a:t>• Extracellular mucus (MUC) with sparse cells.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3218688"/>
            <a:ext cx="3364992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3355848"/>
            <a:ext cx="299923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Why Does Uncertainty Fail?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Because the test image is clean and lies squarely inside the training manifold:</a:t>
            </a:r>
            <a:br/>
            <a:br/>
            <a:r>
              <a:t>• Image quality is pristine (no blur)</a:t>
            </a:r>
            <a:br/>
            <a:r>
              <a:t>• MC-Dropout passes agree with each other (low epistemic variance)</a:t>
            </a:r>
            <a:br/>
            <a:r>
              <a:t>• The model is consistently, confidently wrong.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3218688"/>
            <a:ext cx="3364992" cy="30632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3355848"/>
            <a:ext cx="299923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The Solution: Multi-Signal Defense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Relying strictly on confidence or entropy creates a dangerous false sense of security.</a:t>
            </a:r>
            <a:br/>
            <a:br/>
            <a:r>
              <a:t>Our system combines:</a:t>
            </a:r>
            <a:br/>
            <a:r>
              <a:t>1. Calibrated Risk Cutoffs</a:t>
            </a:r>
            <a:br/>
            <a:r>
              <a:t>2. Feature Distance Gates</a:t>
            </a:r>
            <a:br/>
            <a:r>
              <a:t>3. Pre-Inference Physical IQA</a:t>
            </a:r>
            <a:br/>
            <a:r>
              <a:t>4. Human Pathologist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PROJECT 2: MEDICAL AI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OOD Screening: Deep Feature Geometry Decisively Outperforms Softmax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5943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4_ood_distribution_s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5669280" cy="337383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0" y="1536192"/>
            <a:ext cx="45994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691640"/>
            <a:ext cx="4142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43"/>
                </a:solidFill>
              </a:defRPr>
            </a:pPr>
            <a:r>
              <a:t>OOD Screening Benchmark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DermaMNIST (Skin Lesions):</a:t>
            </a:r>
          </a:p>
          <a:p>
            <a:pPr>
              <a:spcBef>
                <a:spcPts val="200"/>
              </a:spcBef>
              <a:defRPr sz="1100">
                <a:solidFill>
                  <a:srgbClr val="0D9488"/>
                </a:solidFill>
              </a:defRPr>
            </a:pPr>
            <a:r>
              <a:t>• Softmax MSP: 45.07% AUROC</a:t>
            </a:r>
            <a:br/>
            <a:r>
              <a:t>• Energy Score: 42.24% AUROC</a:t>
            </a:r>
            <a:br/>
            <a:r>
              <a:t>• Mahalanobis: 99.26% AUROC (FPR: 1.0%)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BloodMNIST (Blood Smears):</a:t>
            </a:r>
          </a:p>
          <a:p>
            <a:pPr>
              <a:spcBef>
                <a:spcPts val="200"/>
              </a:spcBef>
              <a:defRPr sz="1100">
                <a:solidFill>
                  <a:srgbClr val="0D9488"/>
                </a:solidFill>
              </a:defRPr>
            </a:pPr>
            <a:r>
              <a:t>• Softmax MSP: 57.20% AUROC</a:t>
            </a:r>
            <a:br/>
            <a:r>
              <a:t>• Energy Score: 55.88% AUROC</a:t>
            </a:r>
            <a:br/>
            <a:r>
              <a:t>• Mahalanobis: 98.93% AUROC (FPR: 0.8%)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Synthetic Uniform Noise:</a:t>
            </a:r>
          </a:p>
          <a:p>
            <a:pPr>
              <a:spcBef>
                <a:spcPts val="200"/>
              </a:spcBef>
              <a:defRPr sz="1100">
                <a:solidFill>
                  <a:srgbClr val="0D9488"/>
                </a:solidFill>
              </a:defRPr>
            </a:pPr>
            <a:r>
              <a:t>• Softmax MSP: 45.14% AUROC</a:t>
            </a:r>
            <a:br/>
            <a:r>
              <a:t>• Mahalanobis: 99.36% AUROC (FPR: 0.0%)</a:t>
            </a:r>
          </a:p>
          <a:p>
            <a:pPr>
              <a:spcBef>
                <a:spcPts val="1000"/>
              </a:spcBef>
              <a:defRPr sz="1050" i="1">
                <a:solidFill>
                  <a:srgbClr val="1E293B"/>
                </a:solidFill>
              </a:defRPr>
            </a:pPr>
            <a:r>
              <a:t>Conclusion: Output logits fail on foreign medical scans (random chance). Penultimate latent geometry provides near-perfect domain insulation.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PROJECT 2: MEDICAL AI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Stress Testing: Systematic Degradation &amp; Automated Clinical Deferral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6217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3_corruption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5943600" cy="244599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536192"/>
            <a:ext cx="4325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691640"/>
            <a:ext cx="3867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43"/>
                </a:solidFill>
              </a:defRPr>
            </a:pPr>
            <a:r>
              <a:t>Physical Corruptions Audit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Defocus Blur (Microscope Focal Drift): Acc drops 57.0% -&gt; 21.0%. Deferral scales to 100.0% automated rejection on severities 3-5.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Contrast Degradation (Aperture Decay): Acc drops 33.3% -&gt; 10.3%. Deferral reaches 93.7% automated rejection.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Motion Blur (Stage Motor Jitter): Acc drops 70.0% -&gt; 49.7%. Deferral rate reaches 49.7%.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H&amp;E Stain Fading (Chemical Drift): Revealed 'Representation Collapse': model defaults to single class with low entropy. Pre-inference SNR &amp; feature gates catch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PROJECT 2: MEDICAL AI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Clinical Triage in Action: Live Demonstrations Across Query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1072591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5_clinical_triage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27632"/>
            <a:ext cx="10451592" cy="34738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047488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138928"/>
            <a:ext cx="2322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Case 1: Clean Histology</a:t>
            </a:r>
          </a:p>
          <a:p>
            <a:pPr>
              <a:spcBef>
                <a:spcPts val="200"/>
              </a:spcBef>
              <a:defRPr sz="1050" b="1">
                <a:solidFill>
                  <a:srgbClr val="16A34A"/>
                </a:solidFill>
              </a:defRPr>
            </a:pPr>
            <a:r>
              <a:t>🟢 TRUSTED: ACCEPT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High focus (Var: 142.3), low entropy (H: 0.14). Autonomous prediction: Normal Mucosa (96% conf).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5047488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5138928"/>
            <a:ext cx="2322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Case 2: Motion Blur</a:t>
            </a:r>
          </a:p>
          <a:p>
            <a:pPr>
              <a:spcBef>
                <a:spcPts val="200"/>
              </a:spcBef>
              <a:defRPr sz="1050" b="1">
                <a:solidFill>
                  <a:srgbClr val="DC2626"/>
                </a:solidFill>
              </a:defRPr>
            </a:pPr>
            <a:r>
              <a:t>🔴 UNTRUSTED: DEFER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Degraded focus (Var: 28.4 &lt; 40), entropy spikes (H: 1.72). Flags severe stage vibration.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5047488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5138928"/>
            <a:ext cx="2322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Case 3: Foreign OOD</a:t>
            </a:r>
          </a:p>
          <a:p>
            <a:pPr>
              <a:spcBef>
                <a:spcPts val="200"/>
              </a:spcBef>
              <a:defRPr sz="1050" b="1">
                <a:solidFill>
                  <a:srgbClr val="DC2626"/>
                </a:solidFill>
              </a:defRPr>
            </a:pPr>
            <a:r>
              <a:t>🔴 UNTRUSTED: DEFER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Input is a skin lesion. Latent Mahalanobis distance explodes (M=184.2 &gt;&gt; tau). Foreign modality deferred.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5047488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5138928"/>
            <a:ext cx="2322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Case 4: Faded Staining</a:t>
            </a:r>
          </a:p>
          <a:p>
            <a:pPr>
              <a:spcBef>
                <a:spcPts val="200"/>
              </a:spcBef>
              <a:defRPr sz="1050" b="1">
                <a:solidFill>
                  <a:srgbClr val="DC2626"/>
                </a:solidFill>
              </a:defRPr>
            </a:pPr>
            <a:r>
              <a:t>🔴 UNTRUSTED: DEFER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Severe contrast attenuation. Dynamic range quality screening alert triggers. Defer to re-staining.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PROJECT 2: MEDICAL AI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How It Helps: Real-World Healthcare Impact &amp; Regulatory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7550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097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1. Hospital Workload Relief Without Risk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Pathologists face global burnout reviewing thousands of routine biopsies. Our system securely automates pristine, high-confidence biopsies (e.g. normal mucosa) while triaging complex, suspicious, or borderline cases directly to specialist desks.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554480"/>
            <a:ext cx="517550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737360"/>
            <a:ext cx="48097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2. Hardware &amp; Pre-Analytical Quality Firewall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Acts as an automated quality-control filter at the digital slide scanner. Warns lab technicians about focal drift, coverslip bubbles, or poor staining before corrupted scans contaminate medical archives or patient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7550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8097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3. Global Regulatory Compliance (FDA &amp; EU AI Act)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Meets FDA Good Machine Learning Practice (GMLP) and EU AI Act requirements for high-risk medical AI by providing verifiable uncertainty bounds, calibrated probabilities, and mandatory human-in-the-loop fallback mechanisms.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4023360"/>
            <a:ext cx="517550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4206240"/>
            <a:ext cx="48097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4. Complete Open-Source Reproducibility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100% unit tests passing via PyTest • Interactive Streamlit diagnostic dashboard (app.py) • Full reproducible CLI orchestration (scripts/run_pipeline.py) • 11-page publication research report in 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